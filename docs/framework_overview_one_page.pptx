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  <a:ea typeface="Microsoft YaHei"/>
              </a:rPr>
              <a:t>熟悉的框架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主要收获：理清分层与接口；顺带踩过仿真时间同步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234440"/>
            <a:ext cx="4023360" cy="658368"/>
          </a:xfrm>
          <a:prstGeom prst="roundRect">
            <a:avLst>
              <a:gd name="adj" fmla="val 12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SLAM / Nav2</a:t>
            </a:r>
          </a:p>
        </p:txBody>
      </p:sp>
      <p:sp>
        <p:nvSpPr>
          <p:cNvPr id="6" name="Down Arrow 5"/>
          <p:cNvSpPr/>
          <p:nvPr/>
        </p:nvSpPr>
        <p:spPr>
          <a:xfrm>
            <a:off x="3739896" y="1938528"/>
            <a:ext cx="201168" cy="237744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2240280"/>
            <a:ext cx="4023360" cy="658368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/cmd_vel</a:t>
            </a:r>
          </a:p>
        </p:txBody>
      </p:sp>
      <p:sp>
        <p:nvSpPr>
          <p:cNvPr id="8" name="Down Arrow 7"/>
          <p:cNvSpPr/>
          <p:nvPr/>
        </p:nvSpPr>
        <p:spPr>
          <a:xfrm>
            <a:off x="3739896" y="2944368"/>
            <a:ext cx="201168" cy="237744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3246120"/>
            <a:ext cx="4023360" cy="658368"/>
          </a:xfrm>
          <a:prstGeom prst="roundRect">
            <a:avLst>
              <a:gd name="adj" fmla="val 12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平衡 · 速度 · 偏航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739896" y="3950208"/>
            <a:ext cx="201168" cy="237744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4251960"/>
            <a:ext cx="4023360" cy="658368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驱动 / 仿真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4231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B45309"/>
                </a:solidFill>
                <a:latin typeface="Microsoft YaHei"/>
                <a:ea typeface="Microsoft YaHei"/>
              </a:rPr>
              <a:t>← 接缝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08760.0" y="3246120"/>
            <a:ext cx="0.0" cy="1664208"/>
          </a:xfrm>
          <a:prstGeom prst="line">
            <a:avLst/>
          </a:prstGeom>
          <a:ln w="317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08760.0" y="3246120"/>
            <a:ext cx="228600.0" cy="0"/>
          </a:xfrm>
          <a:prstGeom prst="line">
            <a:avLst/>
          </a:prstGeom>
          <a:ln w="317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8760.0" y="4910328"/>
            <a:ext cx="228600.0" cy="0"/>
          </a:xfrm>
          <a:prstGeom prst="line">
            <a:avLst/>
          </a:prstGeom>
          <a:ln w="317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0040" y="3749040"/>
            <a:ext cx="1280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B91C1C"/>
                </a:solidFill>
                <a:latin typeface="Microsoft YaHei"/>
                <a:ea typeface="Microsoft YaHei"/>
              </a:rPr>
              <a:t>本仓库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2344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时间同步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737360"/>
            <a:ext cx="39319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E40AF"/>
                </a:solidFill>
                <a:latin typeface="Microsoft YaHei"/>
                <a:ea typeface="Microsoft YaHei"/>
              </a:rPr>
              <a:t>Gazebo  /clock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454896" y="2606040"/>
            <a:ext cx="201168" cy="256032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97180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</a:rPr>
              <a:t>use_sim_time
= true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97180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9A3412"/>
                </a:solidFill>
                <a:latin typeface="Microsoft YaHei"/>
                <a:ea typeface="Microsoft YaHei"/>
              </a:rPr>
              <a:t>use_sim_time
=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114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跟仿真钟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114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跟墙钟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572000"/>
            <a:ext cx="3931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/clock 过慢时，控制会跟着掉频；
可提高 /clock 或改用墙钟。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75569"/>
                </a:solidFill>
                <a:latin typeface="Microsoft YaHei"/>
                <a:ea typeface="Microsoft YaHei"/>
              </a:rPr>
              <a:t>这一页只记框架：上层规划 → 标准接口 → 底层控制；时间源要和节点一致。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